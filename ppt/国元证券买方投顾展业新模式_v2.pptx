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1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5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5"/>
  </p:notesMasterIdLst>
  <p:sldIdLst>
    <p:sldId id="276" r:id="rId3"/>
    <p:sldId id="257" r:id="rId4"/>
    <p:sldId id="277" r:id="rId5"/>
    <p:sldId id="278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7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1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国元证券关于买方投顾展业新模式的内部培训。今天，我们将共同探讨一个核心议题：在当前市场环境下，我们为什么必须转型，以及如何成功地从传统的卖方模式，转型为以客户为中心的买方投顾模式。这次培训将从理念重塑、流程再造和工具赋能三个方面，为大家提供一套从理念到实战的完整行动指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正处在一个关键的十字路口。传统的业务模式正面临前所未有的挑战。大家是否都有这样的感受：客户越来越难开发，老客户的忠诚度似乎也在下降？当市场波动导致客户亏损时，我们内心的焦虑和对自身价值的怀疑是否也随之而来？收入增长的瓶颈和日益激烈的竞争，让我们感到身心俱疲。这些问题并非个例，而是整个行业的普遍困境。今天，我们就将从这些痛点出发，寻找破局之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培训将分为三个核心部分。首先，我们将深入探讨“理念重塑”，分析传统卖方模式的痛点和风险，明确转型的必要性。接着，在“流程再造”部分，我们将详细介绍买方投顾的具体落地方法，包括底层原则和展业六步法。最后，在“工具赋能”部分，我们将分享一系列实用的工具和技巧，帮助大家提升专业能力，更好地服务客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理念重塑。在这一章，我们将回答一个根本性问题：我们为什么必须转型？我们会深入剖析传统卖方模式面临的困境与风险，通过对比买方与卖方模式的本质区别，揭示转型的内在逻辑。同时，我们也会看到转型将为我们每一位顾问带来的质变，以及当前市场环境中蕴含的巨大机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痛点，是客户越来越难搞定。我们常常陷入一个误区，认为只要推荐好的产品，客户就能赚钱。但事实是残酷的。中欧基金的案例告诉我们，即使在大牛市，真正赚到钱的客户也寥寥无几。某银行的爆款基金，最终只有8个人拿到了全部收益。即便是陈光明这样的传奇产品，客户也很难拿住。这说明，客户的收益不仅仅取决于产品本身，更取决于他们的投资行为。我们过去的模式，恰恰忽略了对客户行为的管理，导致信任的基石正在动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痛点，是客户留存极其困难。我们必须清醒地认识到，很多客户是国元的客户，但不一定是你个人的客户。他们认可的是国元的品牌，而不是你这个人。如何将客户转化为个人的忠实拥趸？关键在于建立深度信任。信任度分为四个层级，从知道、认识，到理解和包容。只有当客户真正理解你的专业，并能包容你的失误时，他们才不会轻易离开。通过专业服务管理好客户的预期，是建立这种信任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痛点，是我们身心俱疲，价值感缺失。很多一线同事都有过这样的感受：看到客户亏钱，自己也备受煎熬，甚至怀疑这份工作的意义。这种无力感，并非源于我们不努力，而是源于传统卖方模式的根本缺陷。我们收取了佣金，却无法保证客户的盈利，这种责权利的不对等，让我们的职业价值感和信仰受到了前所未有的冲击。我们必须意识到，问题出在模式上，而不是我们个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痛点，是竞争的极度内卷。一方面，费率持续下降，我们传统的收入来源正在被不断挤压。另一方面，过去那种“一锤子买卖”的单次销售模式已经失效。2021年的盛况难以再现，客户越来越理性，不再为单纯的产品宣传买单。这说明，我们所处的赛道正在变得越来越窄，传统的业务模式已经难以为继。不改变，就意味着被淘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如果我们选择不转型，将会面临四大致命风险。首先是收入见顶，传统的赚钱方式越来越难。其次是信任崩塌，客户的流失将动摇我们业务的根基。第三是专业退化，我们会逐渐丧失真正的核心竞争力。最后，也是最致命的，是被行业淘汰。监管的方向已经非常明确，逆水行舟，不进则退。我们不能做温水里的青蛙，必须主动求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那么，出路在哪里？答案就是转向买方投顾。这不仅仅是换个名字，而是从根本上改变我们的业务模式。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清晰地展示了卖方销售和买方投顾的五大本质区别。从业务导向、收入来源，到服务内容、客户关系和目标期限，买方投顾模式都展现出截然不同的优势。它是一种从“卖产品”到“提供解决方案”，从“短期交易”到“长期信任”的根本性转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转型对我们个人意味着什么？首先是收入的质变。传统模式下，我们更像是拿着佣金的“打工者”，收入和付出往往是线性的。而在买方投顾模式下，我们的收入公式变成了“客群资产量”、“资产收益率”与“账户费用率”的乘积。这不再是简单的“卖产品赚佣金”，而是变成了一个可以复利增长的模式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复利增长来自四个方面：第一是新客入资，理财市场足够大，只要专业能力到位，客户源源不断；第二是老客增资，随着信任加深，客户会把更多家庭资产交给你打理；第三是转介入资，服务好一位客户，就可能带来他身边一批高净值的转介绍客户；第四是产品增值，只要坚持长期主义，权益资产的复利效应就会显现，我们的收入自然随之增长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所以，这本质上是打造一个可持续、自动生长的业务模式。前期可能辛苦一点，但一旦飞轮转起来，后期将享受复利带来的指数级增长。这不是给公司打工，而是在为自己创业。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是客户关系的质变。我们将从一个“推销员”转变为客户信赖的“家庭CFO”。这种角色的转变，意味着客户关系的深度和粘性将大大增强。当客户把你当作家庭财务的核心顾问时，这种信任壁垒是极高的，客户不会轻易更换。更重要的是，这种基于服务和诚信的优势是可以复制的，它将成为我们最坚实的核心竞争力，而不是依赖于不可控的投资业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第三，是我们个人价值的质变。我们的核心价值不再是卖产品，而是帮助客户实现“双重适当性”的匹配。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首先，是基于信义责任，将客户的生活愿景转化为合理的财务目标。这要求我们设身处地，把客户的钱当成自己的钱来规划。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其次，是基于合规要求，将财务目标匹配到具体的解决方案，实现风险、收益、流动性的“三性匹配”。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总而言之，我们的工作，就是弥合客户“想要的”、“该要的”和“能要的”之间的差距，将这三者统一起来，为客户提供真正“适当”的财富规划。这才是我们作为专业人士的立身之本。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是效率的质变。买方投顾模式将帮助我们告别过去那种“见招拆招”的低效工作方式。通过建立一套标准化的服务流程，我们可以将服务过程变得可复制、可管理。这个闭环不仅能让责任更清晰，让我们晚上睡得着觉，更能建立起一个可持续的业务模式，让我们的职业生涯越走越宽，越做越轻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现在是转型的最佳时机吗？答案是肯定的。我们正面临四大机遇的加持。首先是政策东风，监管已经为我们指明了方向。其次是市场机遇，社会经济环境的变化催生了巨大的需求。第三是客户觉醒，新一代客户愿意为专业服务付费。最后，也是最关键的，是公司战略的全力支持。现在转型，我们将抢占先机，赢得未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支持大家顺利转型，公司做出了郑重承诺。这不是单兵作战，公司已经为我们规划了清晰的战略蓝图。接下来，我将为大家详细解读公司推动转型的六大核心举措，涵盖组织、人才、业务、服务、技术和渠道等各个方面，为我们的转型之路保驾护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组织与人才保障。公司将推动功能重置，从总部到分支机构再到一线员工，都将有新的定位和职责。同时，公司将加快人员转型，通过完善的培训体系和系统平台，帮助大家提升专业能力，顺利完成从销售到顾问的角色转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业务与服务的深化。公司将深化买方试点，将成功经验复制推广，并优化考核激励机制，真正以客户收益为核心。同时，我们将推行分层精准服务，针对不同客群提供差异化的解决方案，提升服务的专业性和有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技术与渠道的赋能。公司将大力投入数智技术，迭代各类工具平台，为大家的服务提供强大的技术支持。同时，在获客方面，公司将统筹线上线下渠道，打造全方位的获客矩阵，帮助大家用专业吸引和留住客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转型之路并非一帆风顺。我们必须坦诚面对即将到来的五大挑战：更大的信托责任、更高的专业要求、服务模式的重构、客群的细分管理，以及初期可能出现的收入波动。认识到这些挑战，做好充分的心理准备，我们才能行稳致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具体该从哪里开始行动呢？这里为大家提供一个客群选择的优先顺序。首先，从自己开始，把自己打造成最好的案例。然后，从最信任你的内部客户开始。接着，去开拓新的外部商业客户。最后，再用专业和耐心去转化那些最难的存量客户。记住，能帮你转介绍和复购的客户，才是你的核心客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伙伴，转型之路，道阻且长，但行则将至。今天我们选择的，或许是一条更窄的门，但它通向的，一定是一条更长远、更光明的路。让我们换一种方式服务客户，你会发现自己变得与众不同。请记住，我们每天最应该关注的指标，不是赚了多少钱，而是客户的信任有没有增加。只要信任在，一切皆有可能。让我们一起，在国元证券的平台上，开启属于我们的买方投顾新篇章！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Relationship Id="rId7" Type="http://schemas.openxmlformats.org/officeDocument/2006/relationships/image" Target="../media/image6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eg"/><Relationship Id="rId4" Type="http://schemas.openxmlformats.org/officeDocument/2006/relationships/image" Target="../media/image8.svg"/><Relationship Id="rId5" Type="http://schemas.openxmlformats.org/officeDocument/2006/relationships/image" Target="../media/image9.svg"/><Relationship Id="rId6" Type="http://schemas.openxmlformats.org/officeDocument/2006/relationships/image" Target="../media/image10.svg"/><Relationship Id="rId7" Type="http://schemas.openxmlformats.org/officeDocument/2006/relationships/image" Target="../media/image11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eg"/><Relationship Id="rId4" Type="http://schemas.openxmlformats.org/officeDocument/2006/relationships/image" Target="../media/image1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eg"/><Relationship Id="rId4" Type="http://schemas.openxmlformats.org/officeDocument/2006/relationships/image" Target="../media/image1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eg"/><Relationship Id="rId4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eg"/><Relationship Id="rId4" Type="http://schemas.openxmlformats.org/officeDocument/2006/relationships/image" Target="../media/image15.svg"/><Relationship Id="rId5" Type="http://schemas.openxmlformats.org/officeDocument/2006/relationships/image" Target="../media/image16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eg"/><Relationship Id="rId4" Type="http://schemas.openxmlformats.org/officeDocument/2006/relationships/image" Target="../media/image17.svg"/><Relationship Id="rId5" Type="http://schemas.openxmlformats.org/officeDocument/2006/relationships/image" Target="../media/image18.svg"/><Relationship Id="rId6" Type="http://schemas.openxmlformats.org/officeDocument/2006/relationships/image" Target="../media/image19.svg"/><Relationship Id="rId7" Type="http://schemas.openxmlformats.org/officeDocument/2006/relationships/image" Target="../media/image20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eg"/><Relationship Id="rId4" Type="http://schemas.openxmlformats.org/officeDocument/2006/relationships/image" Target="../media/image21.svg"/><Relationship Id="rId5" Type="http://schemas.openxmlformats.org/officeDocument/2006/relationships/image" Target="../media/image22.svg"/><Relationship Id="rId6" Type="http://schemas.openxmlformats.org/officeDocument/2006/relationships/image" Target="../media/image2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eg"/><Relationship Id="rId4" Type="http://schemas.openxmlformats.org/officeDocument/2006/relationships/image" Target="../media/image24.svg"/><Relationship Id="rId5" Type="http://schemas.openxmlformats.org/officeDocument/2006/relationships/image" Target="../media/image25.svg"/><Relationship Id="rId6" Type="http://schemas.openxmlformats.org/officeDocument/2006/relationships/image" Target="../media/image26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eg"/><Relationship Id="rId4" Type="http://schemas.openxmlformats.org/officeDocument/2006/relationships/image" Target="../media/image27.svg"/><Relationship Id="rId5" Type="http://schemas.openxmlformats.org/officeDocument/2006/relationships/image" Target="../media/image28.svg"/><Relationship Id="rId6" Type="http://schemas.openxmlformats.org/officeDocument/2006/relationships/image" Target="../media/image2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eg"/><Relationship Id="rId4" Type="http://schemas.openxmlformats.org/officeDocument/2006/relationships/image" Target="../media/image30.jpeg"/><Relationship Id="rId5" Type="http://schemas.openxmlformats.org/officeDocument/2006/relationships/image" Target="../media/image31.svg"/><Relationship Id="rId6" Type="http://schemas.openxmlformats.org/officeDocument/2006/relationships/image" Target="../media/image5.svg"/><Relationship Id="rId7" Type="http://schemas.openxmlformats.org/officeDocument/2006/relationships/image" Target="../media/image21.svg"/><Relationship Id="rId8" Type="http://schemas.openxmlformats.org/officeDocument/2006/relationships/image" Target="../media/image32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eg"/><Relationship Id="rId4" Type="http://schemas.openxmlformats.org/officeDocument/2006/relationships/image" Target="../media/image33.svg"/><Relationship Id="rId5" Type="http://schemas.openxmlformats.org/officeDocument/2006/relationships/image" Target="../media/image34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eg"/><Relationship Id="rId4" Type="http://schemas.openxmlformats.org/officeDocument/2006/relationships/image" Target="../media/image35.svg"/><Relationship Id="rId5" Type="http://schemas.openxmlformats.org/officeDocument/2006/relationships/image" Target="../media/image36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eg"/><Relationship Id="rId4" Type="http://schemas.openxmlformats.org/officeDocument/2006/relationships/image" Target="../media/image37.svg"/><Relationship Id="rId5" Type="http://schemas.openxmlformats.org/officeDocument/2006/relationships/image" Target="../media/image38.svg"/><Relationship Id="rId6" Type="http://schemas.openxmlformats.org/officeDocument/2006/relationships/image" Target="../media/image21.svg"/><Relationship Id="rId7" Type="http://schemas.openxmlformats.org/officeDocument/2006/relationships/image" Target="../media/image39.svg"/><Relationship Id="rId8" Type="http://schemas.openxmlformats.org/officeDocument/2006/relationships/image" Target="../media/image40.svg"/><Relationship Id="rId9" Type="http://schemas.openxmlformats.org/officeDocument/2006/relationships/image" Target="../media/image41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eg"/><Relationship Id="rId4" Type="http://schemas.openxmlformats.org/officeDocument/2006/relationships/image" Target="../media/image42.svg"/><Relationship Id="rId5" Type="http://schemas.openxmlformats.org/officeDocument/2006/relationships/image" Target="../media/image43.svg"/><Relationship Id="rId6" Type="http://schemas.openxmlformats.org/officeDocument/2006/relationships/image" Target="../media/image22.svg"/><Relationship Id="rId7" Type="http://schemas.openxmlformats.org/officeDocument/2006/relationships/image" Target="../media/image44.svg"/><Relationship Id="rId8" Type="http://schemas.openxmlformats.org/officeDocument/2006/relationships/image" Target="../media/image45.svg"/><Relationship Id="rId9" Type="http://schemas.openxmlformats.org/officeDocument/2006/relationships/image" Target="../media/image46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eg"/><Relationship Id="rId4" Type="http://schemas.openxmlformats.org/officeDocument/2006/relationships/image" Target="../media/image47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jpeg"/><Relationship Id="rId3" Type="http://schemas.openxmlformats.org/officeDocument/2006/relationships/image" Target="../media/image11.svg"/><Relationship Id="rId4" Type="http://schemas.openxmlformats.org/officeDocument/2006/relationships/image" Target="../media/image10.svg"/><Relationship Id="rId5" Type="http://schemas.openxmlformats.org/officeDocument/2006/relationships/image" Target="../media/image9.svg"/><Relationship Id="rId6" Type="http://schemas.openxmlformats.org/officeDocument/2006/relationships/image" Target="../media/image8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14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14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29.svg"/><Relationship Id="rId4" Type="http://schemas.openxmlformats.org/officeDocument/2006/relationships/image" Target="../media/image28.svg"/><Relationship Id="rId5" Type="http://schemas.openxmlformats.org/officeDocument/2006/relationships/image" Target="../media/image27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0.svg"/><Relationship Id="rId3" Type="http://schemas.openxmlformats.org/officeDocument/2006/relationships/image" Target="../media/image2.jpeg"/><Relationship Id="rId4" Type="http://schemas.openxmlformats.org/officeDocument/2006/relationships/image" Target="../media/image39.svg"/><Relationship Id="rId5" Type="http://schemas.openxmlformats.org/officeDocument/2006/relationships/image" Target="../media/image21.svg"/><Relationship Id="rId6" Type="http://schemas.openxmlformats.org/officeDocument/2006/relationships/image" Target="../media/image38.svg"/><Relationship Id="rId7" Type="http://schemas.openxmlformats.org/officeDocument/2006/relationships/image" Target="../media/image37.svg"/><Relationship Id="rId8" Type="http://schemas.openxmlformats.org/officeDocument/2006/relationships/image" Target="../media/image41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29.svg"/><Relationship Id="rId4" Type="http://schemas.openxmlformats.org/officeDocument/2006/relationships/image" Target="../media/image28.svg"/><Relationship Id="rId5" Type="http://schemas.openxmlformats.org/officeDocument/2006/relationships/image" Target="../media/image27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2.svg"/><Relationship Id="rId3" Type="http://schemas.openxmlformats.org/officeDocument/2006/relationships/image" Target="../media/image2.jpeg"/><Relationship Id="rId4" Type="http://schemas.openxmlformats.org/officeDocument/2006/relationships/image" Target="../media/image21.svg"/><Relationship Id="rId5" Type="http://schemas.openxmlformats.org/officeDocument/2006/relationships/image" Target="../media/image5.svg"/><Relationship Id="rId6" Type="http://schemas.openxmlformats.org/officeDocument/2006/relationships/image" Target="../media/image31.svg"/><Relationship Id="rId7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国元证券买方投顾展业新模式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200" b="1" i="0" u="none" strike="noStrike" kern="0" cap="none" spc="0" normalizeH="0" baseline="0" noProof="0">
                <a:ln>
                  <a:noFill/>
                </a:ln>
                <a:solidFill>
                  <a:srgbClr val="D4AF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从理念到实战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533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85098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内部培训材料 | 2026年5月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我们正站在一个十字路口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各位国元的</a:t>
            </a:r>
            <a:r>
              <a:rPr lang="zh-CN" alt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一线同事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们，大家好！欢迎参加“燎元计划”买方投顾系列转训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在开始今天的分享前，我想请大家思考几个问题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0734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984500"/>
            <a:ext cx="381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开拓新客户难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zh-CN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你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是否感觉，现在开拓新客户越来越难，老客户也越来越难维护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704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905000" y="4381500"/>
            <a:ext cx="381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客户亏损困扰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zh-CN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你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是否曾因客户亏损而彻夜难眠，怀疑这份工作的价值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461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7404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5651500"/>
            <a:ext cx="381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收入增长见顶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zh-CN" alt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你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是否感到收入增长见顶，行业竞争越来越“卷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”？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 t="8733" b="8733"/>
          <a:stretch>
            <a:fillRect/>
          </a:stretch>
        </p:blipFill>
        <p:spPr>
          <a:xfrm>
            <a:off x="6350000" y="2032000"/>
            <a:ext cx="5080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6350000" y="5080000"/>
            <a:ext cx="5080000" cy="1587500"/>
          </a:xfrm>
          <a:prstGeom prst="roundRect">
            <a:avLst>
              <a:gd name="adj" fmla="val 6400"/>
            </a:avLst>
          </a:prstGeom>
          <a:solidFill>
            <a:srgbClr val="1F293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540500" y="5270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这些困惑，不是你一个人的问题，而是整个行业在转型期共同面临的挑战</a:t>
            </a:r>
            <a:r>
              <a:rPr lang="en-US" sz="1300" b="0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今天，我们将一起探讨，如何走出困境，找到新的增长路径</a:t>
            </a:r>
            <a:r>
              <a:rPr lang="en-US" sz="1300" b="0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答案，就在</a:t>
            </a:r>
            <a:r>
              <a:rPr lang="en-US" sz="1300" b="1" i="0" u="none" strike="noStrike" dirty="0" err="1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“买方投顾</a:t>
            </a:r>
            <a:r>
              <a:rPr lang="en-US" sz="1300" b="1" i="0" u="none" strike="noStrike" dirty="0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r>
              <a:rPr lang="en-US" sz="1300" b="0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培训内容目录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400" normalizeH="0" baseline="0" noProof="0">
                <a:ln>
                  <a:noFill/>
                </a:ln>
                <a:solidFill>
                  <a:srgbClr val="D4AF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390810" y="2297526"/>
            <a:ext cx="3710534" cy="3937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053344" y="2551526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3600" b="1" dirty="0">
                <a:solidFill>
                  <a:srgbClr val="D4AF37"/>
                </a:solidFill>
                <a:latin typeface="Noto Sans SC"/>
                <a:ea typeface="Noto Sans SC"/>
                <a:sym typeface="Noto Sans SC"/>
              </a:rPr>
              <a:t>C</a:t>
            </a:r>
            <a:r>
              <a:rPr lang="en-US" altLang="zh-CN" sz="3600" b="1" dirty="0">
                <a:solidFill>
                  <a:srgbClr val="D4AF37"/>
                </a:solidFill>
                <a:latin typeface="Noto Sans SC"/>
                <a:ea typeface="Noto Sans SC"/>
                <a:sym typeface="Noto Sans SC"/>
              </a:rPr>
              <a:t>hapter 1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053344" y="3567526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理念重塑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为什么必须转型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买方投顾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053344" y="4583526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0">
              <a:lnSpc>
                <a:spcPct val="125000"/>
              </a:lnSpc>
              <a:defRPr/>
            </a:pPr>
            <a:r>
              <a:rPr lang="en-US" altLang="zh-CN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• 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痛点共鸣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zh-CN" altLang="en-US" sz="16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找准方向</a:t>
            </a:r>
            <a:br>
              <a:rPr lang="en-US" sz="16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</a:br>
            <a:r>
              <a:rPr lang="en-US" sz="16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• </a:t>
            </a:r>
            <a:r>
              <a:rPr lang="zh-CN" altLang="en-US" sz="16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实现路径与六大核心举措</a:t>
            </a:r>
            <a:endParaRPr lang="en-US" altLang="zh-CN" sz="1600" dirty="0">
              <a:solidFill>
                <a:srgbClr val="666666"/>
              </a:solidFill>
              <a:latin typeface="Noto Sans SC"/>
              <a:ea typeface="Noto Sans SC"/>
              <a:sym typeface="Noto Sans SC"/>
            </a:endParaRPr>
          </a:p>
          <a:p>
            <a:pPr lvl="0">
              <a:lnSpc>
                <a:spcPct val="125000"/>
              </a:lnSpc>
              <a:defRPr/>
            </a:pPr>
            <a:r>
              <a:rPr lang="en-US" altLang="zh-CN" sz="16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• </a:t>
            </a:r>
            <a:r>
              <a:rPr lang="zh-CN" altLang="en-US" sz="16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转型五大挑战</a:t>
            </a:r>
            <a:endParaRPr lang="en-US" sz="1600" dirty="0">
              <a:solidFill>
                <a:srgbClr val="666666"/>
              </a:solidFill>
              <a:latin typeface="Noto Sans SC"/>
              <a:ea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951070" y="2286000"/>
            <a:ext cx="3710534" cy="3937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409337" y="2540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0">
              <a:lnSpc>
                <a:spcPct val="125000"/>
              </a:lnSpc>
              <a:defRPr/>
            </a:pPr>
            <a:r>
              <a:rPr lang="en-US" altLang="zh-CN" sz="3600" b="1" dirty="0">
                <a:solidFill>
                  <a:srgbClr val="D4AF37"/>
                </a:solidFill>
                <a:latin typeface="Noto Sans SC"/>
                <a:ea typeface="Noto Sans SC"/>
                <a:sym typeface="Noto Sans SC"/>
              </a:rPr>
              <a:t>Chapter 2</a:t>
            </a:r>
            <a:endParaRPr lang="en-US" altLang="zh-CN" sz="900" dirty="0"/>
          </a:p>
        </p:txBody>
      </p:sp>
      <p:sp>
        <p:nvSpPr>
          <p:cNvPr id="11" name="AutoShape 11"/>
          <p:cNvSpPr/>
          <p:nvPr/>
        </p:nvSpPr>
        <p:spPr>
          <a:xfrm>
            <a:off x="6735802" y="3567099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流程再造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如何落地买方投顾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735802" y="4594198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0">
              <a:lnSpc>
                <a:spcPct val="125000"/>
              </a:lnSpc>
              <a:defRPr/>
            </a:pPr>
            <a:r>
              <a:rPr lang="en-US" altLang="zh-CN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• </a:t>
            </a:r>
            <a:r>
              <a:rPr lang="en-US" sz="1600" dirty="0" err="1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底层工作原则</a:t>
            </a:r>
            <a:br>
              <a:rPr lang="en-US" sz="16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</a:br>
            <a:r>
              <a:rPr lang="en-US" sz="16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• </a:t>
            </a:r>
            <a:r>
              <a:rPr lang="en-US" sz="1600" dirty="0" err="1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展业全流程</a:t>
            </a:r>
            <a:endParaRPr lang="en-US" sz="1600" dirty="0">
              <a:solidFill>
                <a:srgbClr val="666666"/>
              </a:solidFill>
              <a:latin typeface="Noto Sans SC"/>
              <a:ea typeface="Noto Sans SC"/>
              <a:sym typeface="Noto Sans SC"/>
            </a:endParaRPr>
          </a:p>
          <a:p>
            <a:pPr lvl="0">
              <a:lnSpc>
                <a:spcPct val="125000"/>
              </a:lnSpc>
              <a:defRPr/>
            </a:pPr>
            <a:r>
              <a:rPr lang="en-US" altLang="zh-CN" sz="16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• </a:t>
            </a:r>
            <a:r>
              <a:rPr lang="zh-CN" altLang="en-US" sz="1600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附：</a:t>
            </a:r>
            <a:r>
              <a:rPr lang="zh-CN" altLang="en-US" sz="1600" dirty="0">
                <a:solidFill>
                  <a:srgbClr val="666666"/>
                </a:solidFill>
                <a:latin typeface="Noto Sans SC"/>
                <a:ea typeface="Noto Sans SC"/>
              </a:rPr>
              <a:t>配套工具库、知识库</a:t>
            </a:r>
            <a:endParaRPr lang="en-US" sz="1300" dirty="0">
              <a:solidFill>
                <a:srgbClr val="666666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D4AF37"/>
                </a:solidFill>
                <a:latin typeface="Noto Sans SC"/>
                <a:ea typeface="Noto Sans SC"/>
                <a:sym typeface="Noto Sans SC"/>
              </a:rPr>
              <a:t>Chapter 1</a:t>
            </a:r>
            <a:endParaRPr lang="en-US" altLang="zh-CN" sz="800" dirty="0"/>
          </a:p>
          <a:p>
            <a:pPr lvl="0">
              <a:lnSpc>
                <a:spcPct val="125000"/>
              </a:lnSpc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理念重塑：为什么必须转型</a:t>
            </a:r>
            <a:r>
              <a:rPr lang="zh-CN" alt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买方投顾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100" normalizeH="0" baseline="0" noProof="0" dirty="0">
                <a:ln>
                  <a:noFill/>
                </a:ln>
                <a:solidFill>
                  <a:srgbClr val="D4AF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PART 01: </a:t>
            </a:r>
            <a:r>
              <a:rPr kumimoji="0" lang="zh-CN" altLang="en-US" sz="1800" b="0" i="0" u="none" strike="noStrike" kern="0" cap="none" spc="100" normalizeH="0" baseline="0" noProof="0" dirty="0">
                <a:ln>
                  <a:noFill/>
                </a:ln>
                <a:solidFill>
                  <a:srgbClr val="D4AF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传统卖方模式的四大痛点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76200" cy="1905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730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2667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痛点一：客户难搞定</a:t>
            </a:r>
            <a:r>
              <a:rPr lang="en-US" altLang="zh-CN" sz="1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 </a:t>
            </a: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信任的基石正在动摇</a:t>
            </a:r>
            <a:endParaRPr lang="en-US" altLang="zh-CN" sz="800" dirty="0"/>
          </a:p>
        </p:txBody>
      </p:sp>
      <p:sp>
        <p:nvSpPr>
          <p:cNvPr id="9" name="AutoShape 9"/>
          <p:cNvSpPr/>
          <p:nvPr/>
        </p:nvSpPr>
        <p:spPr>
          <a:xfrm>
            <a:off x="6223000" y="2286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2286000"/>
            <a:ext cx="76200" cy="1905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730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93000" y="2667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痛点二：留存极困难</a:t>
            </a:r>
            <a:r>
              <a:rPr lang="en-US" altLang="zh-CN" sz="1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客户是国元的，还是你的</a:t>
            </a:r>
            <a:r>
              <a:rPr lang="en-US" altLang="zh-CN" sz="1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altLang="zh-CN" sz="800" dirty="0"/>
          </a:p>
        </p:txBody>
      </p:sp>
      <p:sp>
        <p:nvSpPr>
          <p:cNvPr id="13" name="AutoShape 13"/>
          <p:cNvSpPr/>
          <p:nvPr/>
        </p:nvSpPr>
        <p:spPr>
          <a:xfrm>
            <a:off x="762000" y="4445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445000"/>
            <a:ext cx="76200" cy="1905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889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32000" y="4826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痛点三：身心俱疲惫</a:t>
            </a:r>
            <a:r>
              <a:rPr lang="en-US" altLang="zh-CN" sz="1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价值感的缺失与信仰的冲击</a:t>
            </a:r>
            <a:endParaRPr lang="en-US" altLang="zh-CN" sz="800" dirty="0"/>
          </a:p>
        </p:txBody>
      </p:sp>
      <p:sp>
        <p:nvSpPr>
          <p:cNvPr id="17" name="AutoShape 17"/>
          <p:cNvSpPr/>
          <p:nvPr/>
        </p:nvSpPr>
        <p:spPr>
          <a:xfrm>
            <a:off x="6223000" y="4445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445000"/>
            <a:ext cx="76200" cy="1905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8895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493000" y="4826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痛点四：竞争极度卷</a:t>
            </a:r>
            <a:r>
              <a:rPr lang="en-US" altLang="zh-CN" sz="1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——</a:t>
            </a: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费率下降与模式失效</a:t>
            </a:r>
            <a:endParaRPr lang="en-US" altLang="zh-CN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痛点一：客户难搞定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 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信任的基石正在动摇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647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524000"/>
            <a:ext cx="609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</a:t>
            </a:r>
            <a:r>
              <a:rPr lang="en-US" sz="1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产品好 ≠ 客户赚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。没有专业顾问的介入，客户的行为损益通常是负的，最终难以留住收益。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03500"/>
            <a:ext cx="2032000" cy="20955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2730500"/>
            <a:ext cx="177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中欧基金 (2019)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大盘平均收益 52%</a:t>
            </a:r>
          </a:p>
          <a:p>
            <a:pPr indent="0" algn="ctr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仅10%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客户赚30%+</a:t>
            </a:r>
          </a:p>
          <a:p>
            <a:pPr indent="0" algn="ctr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60%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客户亏损/微利</a:t>
            </a: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1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“市场涨了50%，您的客户赚到了吗？”</a:t>
            </a:r>
          </a:p>
        </p:txBody>
      </p:sp>
      <p:sp>
        <p:nvSpPr>
          <p:cNvPr id="8" name="AutoShape 8"/>
          <p:cNvSpPr/>
          <p:nvPr/>
        </p:nvSpPr>
        <p:spPr>
          <a:xfrm>
            <a:off x="2984500" y="2603500"/>
            <a:ext cx="2032000" cy="20955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111500" y="2730500"/>
            <a:ext cx="177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某银行爆款基金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半年净值上涨 60%</a:t>
            </a:r>
          </a:p>
          <a:p>
            <a:pPr indent="0" algn="ctr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仅8人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拿满收益</a:t>
            </a:r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千人追涨杀跌，三个月内离场</a:t>
            </a: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“追涨杀跌是客户常态”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207000" y="2603500"/>
            <a:ext cx="2032000" cy="20955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334000" y="2730500"/>
            <a:ext cx="177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陈光明 · 传奇产品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年化25% / 9年8倍回报</a:t>
            </a:r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拿满一年的客户都极少</a:t>
            </a:r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产品份额持续缩减</a:t>
            </a: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1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“产品封神，客户也拿不住”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6477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5080000"/>
            <a:ext cx="609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客户收益 = 产品投资收益 + 客户行为损益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传统模式只提供了产品，巨大的</a:t>
            </a:r>
            <a:r>
              <a:rPr lang="en-US" sz="13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行为损益风险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完全由客户承担，导致信任流失。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7620000" y="1778000"/>
            <a:ext cx="3810000" cy="2540000"/>
          </a:xfrm>
          <a:prstGeom prst="roundRect">
            <a:avLst>
              <a:gd name="adj" fmla="val 6000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7620000" y="4572000"/>
            <a:ext cx="3810000" cy="1778000"/>
          </a:xfrm>
          <a:prstGeom prst="roundRect">
            <a:avLst>
              <a:gd name="adj" fmla="val 5714"/>
            </a:avLst>
          </a:prstGeom>
          <a:solidFill>
            <a:srgbClr val="B89766">
              <a:alpha val="8000"/>
            </a:srgbClr>
          </a:solidFill>
          <a:ln w="12700" cap="flat" cmpd="sng">
            <a:solidFill>
              <a:srgbClr val="B8976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810500" y="4762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“信任的崩塌”</a:t>
            </a:r>
            <a:endParaRPr lang="en-US" sz="1100"/>
          </a:p>
          <a:p>
            <a:pPr indent="0" algn="ctr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当客户发现“买了好产品也赚不到钱”时，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他们对我们的信任基石，正在慢慢动摇。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痛点二：留存极困难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客户是国元的，还是你的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549400"/>
            <a:ext cx="1016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核心洞察：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很多客户是“国元的客户”，而非“你个人的客户”。他们是冲着国元的品牌来开户，而非对你个人的认可与信任。建立个人与客户的深度链接，是留存的关键。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730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🔍 信任度的四个进阶层级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23495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429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1. 知道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客户仅仅知道你的姓名与工号，无任何个人情感联结。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492500" y="3302000"/>
            <a:ext cx="23495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619500" y="3429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2. 认识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有过初步交流，客户认识你这个人，但仍停留在表面关系。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16000" y="4445000"/>
            <a:ext cx="23495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143000" y="4572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3. 理解 (关键分水岭)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客户认可并理解你的专业能力，愿意采纳你的投资建议。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492500" y="4445000"/>
            <a:ext cx="23495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3619500" y="4572000"/>
            <a:ext cx="209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4. 包容 (终极留存态)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即便遇到市场波动或微小失误，客户依然选择相信你。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16000" y="5588000"/>
            <a:ext cx="4826000" cy="698500"/>
          </a:xfrm>
          <a:prstGeom prst="roundRect">
            <a:avLst>
              <a:gd name="adj" fmla="val 14545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43000" y="57150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结论：唯有跨越“理解”与“包容”，客户才真正属于你。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2540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77000" y="27305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🧮 满意度底层逻辑公式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客户满意度 = 实际投资收益 - 心理预期值</a:t>
            </a:r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“实际收益”受市场波动影响不可控，但我们能通过专业、及时的沟通，有效管理并降低客户的不合理预期。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223000" y="4572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rcRect l="6937" r="6937"/>
          <a:stretch>
            <a:fillRect/>
          </a:stretch>
        </p:blipFill>
        <p:spPr>
          <a:xfrm>
            <a:off x="6413500" y="4762500"/>
            <a:ext cx="1651000" cy="1524000"/>
          </a:xfrm>
          <a:prstGeom prst="roundRect">
            <a:avLst>
              <a:gd name="adj" fmla="val 10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8191500" y="4762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信任是“压舱石”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当投资收益未达预期，客户产生不满情绪时，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深厚的信任度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能作为“情感缓冲垫”，帮你补足满意度缺口，留住客户，而不是让他们直接选择转户离开。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痛点三：身心俱疲惫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价值感的缺失与信仰的冲击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84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1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“我觉得我总在坑客户，我总是在让别人亏损，客户亏钱，我会睡不着觉。”</a:t>
            </a:r>
            <a:endParaRPr lang="en-US" sz="1100"/>
          </a:p>
          <a:p>
            <a:pPr indent="0" algn="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一线顾问的真实心声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5842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3655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核心问题：职业价值感的流失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当成就感逐渐被无力感取代，你是否也曾无数次问自己：“这工作的意义究竟在哪？这活还能不能干下去？是不是该换个赛道了？”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953000"/>
            <a:ext cx="5842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5143500"/>
            <a:ext cx="533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🔍 根源：传统“卖方模式”的缺陷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这并非你的能力问题，而是模式的错。</a:t>
            </a:r>
            <a:r>
              <a:rPr lang="en-US" sz="13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“责权利严重不对等”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是根本原因：收了客户的佣金，却无法真正对客户的盈利负责。这种结构性矛盾，正在不断冲击你的职业信仰。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18245" r="18245"/>
          <a:stretch>
            <a:fillRect/>
          </a:stretch>
        </p:blipFill>
        <p:spPr>
          <a:xfrm>
            <a:off x="6985000" y="2032000"/>
            <a:ext cx="4445000" cy="3937000"/>
          </a:xfrm>
          <a:prstGeom prst="roundRect">
            <a:avLst>
              <a:gd name="adj" fmla="val 5161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痛点四：竞争极度卷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——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费率下降与模式失效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16000" y="3810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CD37D20-F143-9451-61D8-9C39FBAC92B4}"/>
              </a:ext>
            </a:extLst>
          </p:cNvPr>
          <p:cNvGrpSpPr/>
          <p:nvPr/>
        </p:nvGrpSpPr>
        <p:grpSpPr>
          <a:xfrm>
            <a:off x="499462" y="1905000"/>
            <a:ext cx="5408066" cy="3366674"/>
            <a:chOff x="560934" y="1651000"/>
            <a:chExt cx="5408066" cy="3366674"/>
          </a:xfrm>
        </p:grpSpPr>
        <p:sp>
          <p:nvSpPr>
            <p:cNvPr id="4" name="AutoShape 4"/>
            <p:cNvSpPr/>
            <p:nvPr/>
          </p:nvSpPr>
          <p:spPr>
            <a:xfrm>
              <a:off x="560934" y="1651000"/>
              <a:ext cx="5408066" cy="3366674"/>
            </a:xfrm>
            <a:prstGeom prst="roundRect">
              <a:avLst>
                <a:gd name="adj" fmla="val 5217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1016000" y="1905000"/>
              <a:ext cx="4699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B897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/ 费率持续下降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1016000" y="2540000"/>
              <a:ext cx="46990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16666"/>
                </a:lnSpc>
                <a:defRPr/>
              </a:pPr>
              <a:r>
                <a:rPr lang="en-US" sz="1300" b="0" i="0" u="none" strike="noStrike" dirty="0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• </a:t>
              </a:r>
              <a:r>
                <a:rPr lang="en-US" sz="1300" b="0" i="0" u="none" strike="noStrike" dirty="0" err="1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行业已历经两轮费率改革，涉及申购、认购及销售服务费，第三轮改革箭在弦上</a:t>
              </a:r>
              <a:r>
                <a:rPr lang="en-US" sz="1300" b="0" i="0" u="none" strike="noStrike" dirty="0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  <a:p>
              <a:pPr indent="0" algn="l">
                <a:lnSpc>
                  <a:spcPct val="116666"/>
                </a:lnSpc>
              </a:pPr>
              <a:r>
                <a:rPr lang="en-US" sz="1300" b="0" i="0" u="none" strike="noStrike" dirty="0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• </a:t>
              </a:r>
              <a:r>
                <a:rPr lang="en-US" sz="1300" b="0" i="0" u="none" strike="noStrike" dirty="0" err="1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机构赖以生存的分仓佣金，亦在激烈的竞争中不断走低，利润空间持续被压缩</a:t>
              </a:r>
              <a:r>
                <a:rPr lang="en-US" sz="1300" b="0" i="0" u="none" strike="noStrike" dirty="0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</a:p>
          </p:txBody>
        </p:sp>
        <p:sp>
          <p:nvSpPr>
            <p:cNvPr id="8" name="AutoShape 8"/>
            <p:cNvSpPr/>
            <p:nvPr/>
          </p:nvSpPr>
          <p:spPr>
            <a:xfrm>
              <a:off x="1143000" y="3937000"/>
              <a:ext cx="4445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1" i="0" u="none" strike="noStrike">
                  <a:solidFill>
                    <a:srgbClr val="1F2937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💡 思考：当所有传统收费项目都在下降，行业的利润增长点在哪里？</a:t>
              </a:r>
              <a:endParaRPr lang="en-US" sz="110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A247120-0A5A-1F7A-E0BD-830CDA965315}"/>
              </a:ext>
            </a:extLst>
          </p:cNvPr>
          <p:cNvGrpSpPr/>
          <p:nvPr/>
        </p:nvGrpSpPr>
        <p:grpSpPr>
          <a:xfrm>
            <a:off x="6284473" y="1905000"/>
            <a:ext cx="5408065" cy="3366674"/>
            <a:chOff x="6222999" y="1651000"/>
            <a:chExt cx="5408065" cy="3366674"/>
          </a:xfrm>
        </p:grpSpPr>
        <p:sp>
          <p:nvSpPr>
            <p:cNvPr id="9" name="AutoShape 9"/>
            <p:cNvSpPr/>
            <p:nvPr/>
          </p:nvSpPr>
          <p:spPr>
            <a:xfrm>
              <a:off x="6222999" y="1651000"/>
              <a:ext cx="5408065" cy="3366674"/>
            </a:xfrm>
            <a:prstGeom prst="roundRect">
              <a:avLst>
                <a:gd name="adj" fmla="val 5217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477000" y="1905000"/>
              <a:ext cx="4699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B897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/ 单次销售模式失效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6477000" y="2540000"/>
              <a:ext cx="46990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16666"/>
                </a:lnSpc>
                <a:defRPr/>
              </a:pPr>
              <a:r>
                <a:rPr lang="en-US" sz="1300" b="0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• 2021年“爆款”频出的极致销售盛况已成为历史，市场热度不再。</a:t>
              </a:r>
              <a:endParaRPr lang="en-US" sz="1100"/>
            </a:p>
            <a:p>
              <a:pPr indent="0" algn="l">
                <a:lnSpc>
                  <a:spcPct val="116666"/>
                </a:lnSpc>
              </a:pPr>
              <a:r>
                <a:rPr lang="en-US" sz="1300" b="0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• 客户变得更加理性，单纯依靠渠道“一锤子买卖”式的粗放销售模式已无法打动投资者。</a:t>
              </a: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477000" y="3810000"/>
              <a:ext cx="4699000" cy="635000"/>
            </a:xfrm>
            <a:prstGeom prst="roundRect">
              <a:avLst>
                <a:gd name="adj" fmla="val 16000"/>
              </a:avLst>
            </a:prstGeom>
            <a:solidFill>
              <a:srgbClr val="F3F4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6604000" y="3937000"/>
              <a:ext cx="4445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1" i="0" u="none" strike="noStrike">
                  <a:solidFill>
                    <a:srgbClr val="1F2937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💡 结论：这不是个人能力的问题，而是原有业务模式正在收敛、难以为继。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2225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2225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922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2032000" y="2015458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收入见顶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92200" y="2794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传统收入来源（佣金、销售费）四面楚歌，没有新的业务模式，团队将难以维系，收入天花板肉眼可见。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22225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76200" cy="22225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532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493000" y="2015458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信任崩塌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6553200" y="2794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客户无法自行解决信息、认知、行为三大偏差，产品再好也拿不住，最终导致信任丧失，动摇业务的根本基石。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279900"/>
            <a:ext cx="5207000" cy="22606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279900"/>
            <a:ext cx="76200" cy="22606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92200" y="438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32000" y="45593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专业退化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92200" y="5270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长期只做销售、推产品，你的核心能力——客户与产品的匹配能力、陪伴执行能力——正在逐渐退化，最终把自己活成了“选股择时”的伪专家。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279900"/>
            <a:ext cx="5207000" cy="22606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223000" y="4279900"/>
            <a:ext cx="76200" cy="22606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553200" y="438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493000" y="45593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行业淘汰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6553200" y="5270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监管已指明高质量发展方向，考核指标直指客户体验和资产保有。如果坚持不转型，就是逆监管而行，最终将不可避免地被行业浪潮淘汰。</a:t>
            </a:r>
            <a:endParaRPr lang="en-US" sz="1100"/>
          </a:p>
        </p:txBody>
      </p:sp>
      <p:sp>
        <p:nvSpPr>
          <p:cNvPr id="34" name="AutoShape 4">
            <a:extLst>
              <a:ext uri="{FF2B5EF4-FFF2-40B4-BE49-F238E27FC236}">
                <a16:creationId xmlns:a16="http://schemas.microsoft.com/office/drawing/2014/main" id="{03B98246-9A4A-85FA-C6B5-E966DD016B0F}"/>
              </a:ext>
            </a:extLst>
          </p:cNvPr>
          <p:cNvSpPr/>
          <p:nvPr/>
        </p:nvSpPr>
        <p:spPr>
          <a:xfrm>
            <a:off x="800100" y="825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3200" b="1" dirty="0">
                <a:solidFill>
                  <a:srgbClr val="1F2937"/>
                </a:solidFill>
                <a:latin typeface="Noto Sans SC"/>
                <a:ea typeface="Noto Sans SC"/>
                <a:sym typeface="Noto Sans SC"/>
              </a:rPr>
              <a:t>（二）不转型的四大致命风险 </a:t>
            </a:r>
            <a:r>
              <a:rPr lang="en-US" altLang="zh-CN" sz="3200" b="1" dirty="0">
                <a:solidFill>
                  <a:srgbClr val="1F2937"/>
                </a:solidFill>
                <a:latin typeface="Noto Sans SC"/>
                <a:ea typeface="Noto Sans SC"/>
                <a:sym typeface="Noto Sans SC"/>
              </a:rPr>
              <a:t>—— </a:t>
            </a:r>
            <a:r>
              <a:rPr lang="zh-CN" altLang="en-US" sz="3200" b="1" dirty="0">
                <a:solidFill>
                  <a:srgbClr val="1F2937"/>
                </a:solidFill>
                <a:latin typeface="Noto Sans SC"/>
                <a:ea typeface="Noto Sans SC"/>
                <a:sym typeface="Noto Sans SC"/>
              </a:rPr>
              <a:t>温水煮青蛙的结局</a:t>
            </a:r>
            <a:endParaRPr lang="en-US" sz="3200" b="1" dirty="0">
              <a:solidFill>
                <a:srgbClr val="1F2937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（三）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买方投顾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VS 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卖方销售：五大本质区别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494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498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卖方销售 · 传统模式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3970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549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498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买方投顾 · 未来模式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413000"/>
            <a:ext cx="5207000" cy="8382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89000" y="2552700"/>
            <a:ext cx="114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业务导向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159000" y="2489200"/>
            <a:ext cx="3683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产品导向：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谈哪个产品赚得多，用收益率拉动客户，追求单次交易成功。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2413000"/>
            <a:ext cx="5207000" cy="8382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2552700"/>
            <a:ext cx="114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业务导向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0" y="2489200"/>
            <a:ext cx="3683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需求导向：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深挖客户家庭结构与财务目标，提供定制化资产配置方案。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429000"/>
            <a:ext cx="5207000" cy="8382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9000" y="3568700"/>
            <a:ext cx="114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收入来源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159000" y="3505200"/>
            <a:ext cx="3683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销售佣金：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“一锤子买卖”，顺周期销售压力大，客户离场即收入终止。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3429000"/>
            <a:ext cx="5207000" cy="8382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350000" y="3568700"/>
            <a:ext cx="114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收入来源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0" y="3505200"/>
            <a:ext cx="3683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顾问服务费：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账户管理费或业绩报酬，收入复利增长，越做越轻松。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445000"/>
            <a:ext cx="5207000" cy="8382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89000" y="4584700"/>
            <a:ext cx="114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服务内容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159000" y="4521200"/>
            <a:ext cx="3683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单纯卖产品：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以促成交易为主，帮客户“追逐市场差价”，缺乏后续陪伴。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4445000"/>
            <a:ext cx="5207000" cy="8382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350000" y="4584700"/>
            <a:ext cx="114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服务内容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0" y="4521200"/>
            <a:ext cx="3683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全面规划+陪伴：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整合投资、保险、不动产，全方位实现客户的人生财富目标。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461000"/>
            <a:ext cx="5207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889000" y="56134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客户</a:t>
            </a:r>
            <a:b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关系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2032000" y="5588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弱关系：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客户视你为“推销员”，粘性低，极易流失，缺乏忠诚度。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223000" y="5461000"/>
            <a:ext cx="5207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350000" y="56134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目标</a:t>
            </a:r>
            <a:b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期限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493000" y="5588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长期主义：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积累信任建立高净值客群，建立“获客-服务-续费”的正向循环。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转型的意义（一）：收入的质变 — 从打工到创业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1714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新的收入公式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告别“打工人”线性收入</a:t>
            </a:r>
          </a:p>
        </p:txBody>
      </p:sp>
      <p:sp>
        <p:nvSpPr>
          <p:cNvPr id="7" name="AutoShape 7"/>
          <p:cNvSpPr/>
          <p:nvPr/>
        </p:nvSpPr>
        <p:spPr>
          <a:xfrm>
            <a:off x="4191000" y="1752600"/>
            <a:ext cx="698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投顾收入 ≈ 客群资产量 × 资产收益率 × 账户费用率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238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2385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新客入资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937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理财客群市场潜力巨大，从大众富裕阶层到高净值人群，人人皆可开拓。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67100" y="30480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3238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229100" y="32385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老客增资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57600" y="3937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信任延续，客户家庭生命周期变化带来的规划需求扩大，增资具有天然的长期性。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72200" y="30480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2700" y="3238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34200" y="32385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转介入资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62700" y="3937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深度信任建立后，客户基于口碑的转介绍成功率极高，形成低成本裂变。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39200" y="30480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29700" y="3238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601200" y="32385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产品增值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29700" y="3937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长周期视角下，合理配置权益类资产，时间复利效应将显著提升资产总规模。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62000" y="5207000"/>
            <a:ext cx="101600" cy="1270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143000" y="5397500"/>
            <a:ext cx="1003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这是一个可持续、自动生长的业务模式。前期投入建立信任与能力，后期将享受资产复利带来的</a:t>
            </a: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指数级增长</a:t>
            </a:r>
            <a:r>
              <a:rPr lang="en-US" sz="15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。这不再是为平台打工，而是真正</a:t>
            </a: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为自己创业</a:t>
            </a:r>
            <a:r>
              <a:rPr lang="en-US" sz="15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，打造一份可以传承的事业。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转型的意义（二）：关系的质变——从“推销员”到“家庭CFO”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5800" y="2286000"/>
            <a:ext cx="914400" cy="914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52500" y="3429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角色转变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68500" y="4191000"/>
            <a:ext cx="889000" cy="381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4699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从单纯“卖产品的销售”，彻底转变为客户信赖的</a:t>
            </a:r>
            <a:r>
              <a:rPr lang="en-US" sz="1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“财富家庭医生”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lang="en-US" sz="1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“家庭CEO”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，成为家庭财富管理的核心枢纽。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2286000"/>
            <a:ext cx="914400" cy="914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35500" y="3429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高转换成本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651500" y="4191000"/>
            <a:ext cx="889000" cy="381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99000" y="4699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当客户将家庭财务、人生愿景向你完全敞开，并持续合作5年、10年，这种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信任壁垒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极高且不可复制，客户很难再去选择他人。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21800" y="2286000"/>
            <a:ext cx="914400" cy="914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318500" y="3429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可复制的优势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34500" y="4191000"/>
            <a:ext cx="889000" cy="381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382000" y="4699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投资业绩不可控也难复制，但高品质的专业服务与真诚的职业态度是完全可控且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可以规模化复制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的，这才是你真正的核心竞争力。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转型的意义（三）：价值的质变 — 匹配“双重适当性”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你的核心价值：不再是简单地“卖产品”，而是帮助客户实现</a:t>
            </a:r>
            <a:r>
              <a:rPr lang="en-US" sz="1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“双重适当性”</a:t>
            </a:r>
            <a:r>
              <a:rPr lang="en-US" sz="18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的匹配。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730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667000"/>
            <a:ext cx="393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第一重匹配 · 信义责任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将客户的</a:t>
            </a:r>
            <a:r>
              <a:rPr lang="en-US" sz="13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生活愿景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转化为合理的</a:t>
            </a:r>
            <a:r>
              <a:rPr lang="en-US" sz="13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财务目标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。把客户的钱当成自己的钱来规划，建立深度信任关系。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2413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730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2667000"/>
            <a:ext cx="393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第二重匹配 · 合规要求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将合理的</a:t>
            </a:r>
            <a:r>
              <a:rPr lang="en-US" sz="13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财务目标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匹配到具体的</a:t>
            </a:r>
            <a:r>
              <a:rPr lang="en-US" sz="13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。严格做到产品与客户的风险、收益、流动性“三性匹配”。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10668000" cy="1651000"/>
          </a:xfrm>
          <a:prstGeom prst="roundRect">
            <a:avLst>
              <a:gd name="adj" fmla="val 923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5143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032000" y="4953000"/>
            <a:ext cx="901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解决核心矛盾：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客户“想要的”、“该要的”和“能要的”往往不一致。你的价值，就是运用深厚的专业知识与职业操守，帮助客户统一这三者，做出对他最负责任、最适合他的财富决策。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转型的意义（四）：效率的质变 — 从“见招拆招”到“标准化可复制”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057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告别低效模式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不再“见招拆招”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传统模式下，每一个客户都像是全新的挑战，需要重新摸索打法，不仅身心俱疲，还难以沉淀经验，导致服务始终处于“低水平重复”的状态。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95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2057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建立标准化流程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048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围绕客户“三性”构建服务闭环：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风险承受力、投资目标、期限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出发，建立“从客户中来 → 到产品中去 → 到解决方案中去 → 纳入闭环管理”的完整链路，实现可复制的专业服务。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905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95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2057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服务闭环的价值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048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责任清晰：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权责分明，客户与顾问各司其职，心态更稳，晚上能睡个好觉。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职业永固：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建立可持续、可复制的商业模式，避免吃“青春饭”，实现长期发展。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越做越轻松：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随着服务模型成熟，客户越多，边际成本越低，进入正向循环。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现在转型，正当其时！——四大机遇加持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22549" r="22549"/>
          <a:stretch>
            <a:fillRect/>
          </a:stretch>
        </p:blipFill>
        <p:spPr>
          <a:xfrm>
            <a:off x="762000" y="1778000"/>
            <a:ext cx="3556000" cy="4318000"/>
          </a:xfrm>
          <a:prstGeom prst="roundRect">
            <a:avLst>
              <a:gd name="adj" fmla="val 4285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572000" y="1778000"/>
            <a:ext cx="3683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762500" y="2095500"/>
            <a:ext cx="762000" cy="762000"/>
          </a:xfrm>
          <a:prstGeom prst="ellipse">
            <a:avLst/>
          </a:prstGeom>
          <a:solidFill>
            <a:srgbClr val="F9F5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0300" y="22733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715000" y="2032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政策东风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监管《行动方案》明确方向，考核指标已向买方投顾倾斜。路已铺好，配套到位。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382000" y="1778000"/>
            <a:ext cx="3683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572500" y="2095500"/>
            <a:ext cx="762000" cy="762000"/>
          </a:xfrm>
          <a:prstGeom prst="ellipse">
            <a:avLst/>
          </a:prstGeom>
          <a:solidFill>
            <a:srgbClr val="F9F5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0300" y="22733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525000" y="2032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市场机遇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低利率、净值化、老龄化、低费率四大社会变化，共同催生了对专业买方顾问的巨大需求。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572000" y="4191000"/>
            <a:ext cx="3683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762500" y="4508500"/>
            <a:ext cx="762000" cy="762000"/>
          </a:xfrm>
          <a:prstGeom prst="ellipse">
            <a:avLst/>
          </a:prstGeom>
          <a:solidFill>
            <a:srgbClr val="F9F5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0300" y="46863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715000" y="4445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客户觉醒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新一代客户（90后、00后）习惯为专业服务付费。关键在于：你是否值得他们付费？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382000" y="4191000"/>
            <a:ext cx="3683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572500" y="4508500"/>
            <a:ext cx="762000" cy="762000"/>
          </a:xfrm>
          <a:prstGeom prst="ellipse">
            <a:avLst/>
          </a:prstGeom>
          <a:solidFill>
            <a:srgbClr val="F9F5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0300" y="46863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525000" y="4445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公司战略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公司正全力推动从周期波动向稳定增长转型。早一步上手，就能早一步积累客户池和专业口碑，抢占先机。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公司的承诺：我们如何共同实现转型？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转型不是单兵作战，公司已经为大家规划了清晰的路径和强大的支持。我们将通过六大核心举措，全面推动买方投顾业务的落地，构建可持续发展的业务新生态。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667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41500" y="27305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推动功能重置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重构业务底层逻辑，优化并打通核心业务流程，以适应买方投顾模式需求。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2413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35500" y="2667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24500" y="27305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加快人员转型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开展系统化、针对性的专业赋能培训，全面重塑理财师的专业能力与服务意识。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0" y="2413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18500" y="2667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207500" y="27305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深化买方试点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稳步扩大试点机构与业务范围，及时复盘并沉淀可复制的转型成功经验。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482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841500" y="48895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分层精准服务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基于客户价值与需求深度细分，制定差异化的资产配置方案，提升服务体验。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445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635500" y="482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24500" y="48895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数智技术赋能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引入智能投研与客户管理工具，通过技术手段提升理财师的人效与服务专业度。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128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318500" y="482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07500" y="48895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线上线下获客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整合全渠道流量资源，构建多元化的获客与经营体系，持续扩大高净值客群基础。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举措一 &amp; 二：组织与人才保障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推动功能重置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9210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66800" y="3302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总部 · 顶层设计中枢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打造财富管理顶层中枢，重新梳理并明确各分支机构在新战略下的功能定位与权责边界。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4318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分支机构 · 重塑协同模式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全面改造网点物理与服务空间，落地“1+1+N”的内外部资源协同服务模式，提升服务效能。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5334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 · 执行标准化流程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基于新功能定位，严格执行标准化的财富管理服务流程，确保服务质量的一致性。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加快人员转型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27800" y="29210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527800" y="3302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总部 · 体系与平台赋能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搭建包括“买方投顾”在内的完整人才培训认证体系；建设C5、AUM资产包等数字化投顾支持平台。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4318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分支机构 · 专业投顾化转型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按业务标准配置专业投顾团队，推动员工从单一的“销售型”向提供综合解决方案的“顾问型”转变。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27800" y="5334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 · 能力与导向双升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主动参与专业培训，全面提升资产配置与长期客户陪伴能力，彻底转变服务导向与工作价值。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举措三 &amp; 四：业务与服务深化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1844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举措三：深化买方试点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3048000"/>
            <a:ext cx="4597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总部 |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梳理试点经验，形成可复制的标准化流程，优化以客户收益为核心的考核与激励体系，驱动全员转型。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4191000"/>
            <a:ext cx="4597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分支机构 |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承接总部战略要求，全面落地投顾签约、资产诊断、组合推荐等标准化服务动作，夯实投顾业务基础。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52705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 |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严格执行买方投顾全周期服务流程，以客户资产长期稳健增值为核心目标，提供专业陪伴。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222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21844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举措四：分层精准服务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27800" y="3048000"/>
            <a:ext cx="4597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总部 |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制定大众、富裕、高净值等不同客群的分层经营策略，明确差异化服务标准与资源配置原则。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4191000"/>
            <a:ext cx="4597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分支机构 |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落地差异化服务方案，包括大众客群的智能化线上服务、富裕客群的沙龙活动配置及高净值客群的一对一专属顾问。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27800" y="52705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 |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基于客户资产量级与风险偏好特征，提供匹配的资产配置方案与服务频次，实现精准经营。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举措五 &amp; 六：技术与渠道赋能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2032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举措五：数智技术赋能应用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921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857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总部 · 工具迭代与闭环搭建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持续迭代国元点金APP、C5、企微等核心数字化工具，建立并完善数据驱动的智能推荐闭环，夯实技术底座。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064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4000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分支机构 · 标准化落地执行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全面推广应用总部提供的数字化工具包，严格执行标准化SOP服务流程，提升机构整体运营与服务效率。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207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5143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 · 智能辅助决策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熟练掌握并运用各类业务系统工具，充分借助AI智能决策辅助能力，提升客户服务响应速度与专业精准度。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527800" y="2032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举措六：线上线下全域获客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2921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2857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总部 · 引流矩阵与渠道统筹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统筹打造“1+5”多渠道线上引流矩阵，整合全行资源，强化银行渠道与高潜线下场景的战略合作，实现流量汇聚。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800" y="4064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4000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分支机构 · 场景深耕与转化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落实总部引流策略，积极开展投顾直播活动，深度渗透周边社区、核心商圈等高价值生活场景，将流量转化为留量。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7800" y="5207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239000" y="5143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 · 专业价值获客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积极参与专业内容输出、直播互动及线下沙龙活动，以扎实的业务能力与真诚的服务态度吸引客户，建立信任连接。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转型之路：我们必须面对的五大挑战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286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968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05000"/>
            <a:ext cx="127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信托责任更大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客户的信任是有重量的，这既是压力，也是你建立核心壁垒的机会。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3302000" y="1651000"/>
            <a:ext cx="2286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2500" y="1968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191000" y="1905000"/>
            <a:ext cx="127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专业要求更高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你需要成为一个“全科医生”，了解更广泛的财富管理领域，为客户链接资源。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842000" y="1651000"/>
            <a:ext cx="2286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500" y="1968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31000" y="1905000"/>
            <a:ext cx="127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服务模式重构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需要从“一锤子买卖”转向“复利增长”，前期投入大，要有长期打算。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032000" y="4191000"/>
            <a:ext cx="2286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2500" y="4508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921000" y="4445000"/>
            <a:ext cx="127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客群细分管理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服务半径有限，必须学会做工作量管理，精准选择你的核心客群。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572000" y="4191000"/>
            <a:ext cx="2286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2500" y="4508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461000" y="4445000"/>
            <a:ext cx="127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初期收入波动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转型初期可能没有立竿见影的收入，但关键在于客户信任的积累。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rcRect l="23320" r="23319"/>
          <a:stretch>
            <a:fillRect/>
          </a:stretch>
        </p:blipFill>
        <p:spPr>
          <a:xfrm>
            <a:off x="8382000" y="2032000"/>
            <a:ext cx="3048000" cy="3810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行动指南：从哪里开始？——客群选择的优先顺序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0800" cy="3556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371600"/>
            <a:ext cx="1047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核心原则：不是所有客户都适合立即进行买方投顾服务。我们需要有策略地选择，循序渐进。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自己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先把自己的理财规划好，成为最好的案例，用亲身经历建立信任基础。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556000" y="215900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746500" y="2413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内部客户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从最信任你的家人、亲戚、朋友、同事开始。他们是最容易接受建议的种子用户。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4699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外部商业客户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寻找对资产保值增值有明确需求的新理财客群，利用专业能力打开局面。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556000" y="444500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746500" y="4699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存量受伤型客户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这是最难改造的群体，放在最后。需用长期的专业陪伴和耐心服务逐步转化观念。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 t="12518" b="12518"/>
          <a:stretch>
            <a:fillRect/>
          </a:stretch>
        </p:blipFill>
        <p:spPr>
          <a:xfrm>
            <a:off x="6604000" y="2159000"/>
            <a:ext cx="4826000" cy="2413000"/>
          </a:xfrm>
          <a:prstGeom prst="roundRect">
            <a:avLst>
              <a:gd name="adj" fmla="val 631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6604000" y="4699000"/>
            <a:ext cx="4826000" cy="1778000"/>
          </a:xfrm>
          <a:prstGeom prst="roundRect">
            <a:avLst>
              <a:gd name="adj" fmla="val 8571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0" y="4953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💎 核心客户标准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能帮你进行</a:t>
            </a: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转介绍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或能持续</a:t>
            </a: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复购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你推荐方案的客户。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20000"/>
                </a:srgbClr>
              </a:gs>
              <a:gs pos="100000">
                <a:srgbClr val="000000">
                  <a:alpha val="7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进窄门，走远路，见微光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17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转型之路，道阻且长，但行则将至。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今天，我们选择的或许是一条更窄的门，但它通向的是一条更长远、更光明的路。</a:t>
            </a:r>
            <a:b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请记住，关键指标不是今天赚了多少钱，而是今天客户的信任有没有增加。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33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信任有了，一切皆有可能。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09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让我们一起，在国元证券的平台上，开启属于我们的买方投顾新篇章！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D4AF37"/>
                </a:solidFill>
                <a:latin typeface="Noto Sans SC"/>
                <a:ea typeface="Noto Sans SC"/>
                <a:sym typeface="Noto Sans SC"/>
              </a:rPr>
              <a:t>Chapter 2</a:t>
            </a:r>
            <a:endParaRPr lang="en-US" altLang="zh-CN" sz="800" dirty="0"/>
          </a:p>
          <a:p>
            <a:pPr lvl="0">
              <a:lnSpc>
                <a:spcPct val="125000"/>
              </a:lnSpc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流程再造：如何落地买方投顾？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100" normalizeH="0" baseline="0" noProof="0" dirty="0">
                <a:ln>
                  <a:noFill/>
                </a:ln>
                <a:solidFill>
                  <a:srgbClr val="D4AF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PART 01: 底层工作原则 + 展业全流程六步法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76200" cy="1905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730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2667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原则一：双"7"精力管理原则 — 把精力花在该花的地方</a:t>
            </a:r>
            <a:endParaRPr lang="en-US" altLang="zh-CN" sz="800" dirty="0"/>
          </a:p>
        </p:txBody>
      </p:sp>
      <p:sp>
        <p:nvSpPr>
          <p:cNvPr id="9" name="AutoShape 9"/>
          <p:cNvSpPr/>
          <p:nvPr/>
        </p:nvSpPr>
        <p:spPr>
          <a:xfrm>
            <a:off x="6223000" y="2286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2286000"/>
            <a:ext cx="76200" cy="1905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730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93000" y="2667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原则二：适当性原则 — 投资"三性"的底层逻辑</a:t>
            </a:r>
            <a:endParaRPr lang="en-US" altLang="zh-CN" sz="800" dirty="0"/>
          </a:p>
        </p:txBody>
      </p:sp>
      <p:sp>
        <p:nvSpPr>
          <p:cNvPr id="13" name="AutoShape 13"/>
          <p:cNvSpPr/>
          <p:nvPr/>
        </p:nvSpPr>
        <p:spPr>
          <a:xfrm>
            <a:off x="762000" y="4445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445000"/>
            <a:ext cx="76200" cy="1905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889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32000" y="4826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原则三：合规原则 — 守住业务的生命线</a:t>
            </a:r>
            <a:endParaRPr lang="en-US" altLang="zh-CN" sz="800" dirty="0"/>
          </a:p>
        </p:txBody>
      </p:sp>
      <p:sp>
        <p:nvSpPr>
          <p:cNvPr id="17" name="AutoShape 17"/>
          <p:cNvSpPr/>
          <p:nvPr/>
        </p:nvSpPr>
        <p:spPr>
          <a:xfrm>
            <a:off x="6223000" y="4445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445000"/>
            <a:ext cx="76200" cy="1905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8895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493000" y="4826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8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展业六步法：准备 → 建关系 → 挖需求 → 给方案 → 签合规 → 长陪伴</a:t>
            </a:r>
            <a:endParaRPr lang="en-US" altLang="zh-CN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原则一：双"7"精力管理原则 — 把精力花在该花的地方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84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1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"精力有限，必须聚焦——用 70% 的精力服务 30% 的核心客户。"</a:t>
            </a:r>
            <a:endParaRPr lang="en-US" sz="1100"/>
          </a:p>
          <a:p>
            <a:pPr indent="0" algn="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买方投顾的精力管理铁律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5842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3655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核心理念：精力聚焦在真正创造价值的地方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一线投顾每天面对数十、上百客户与海量信息，如果"撒胡椒面"，每个客户都浅尝辄止，最终一个都做不深。"双 7"原则即：把 70% 的工作时间，配置到能贡献 70% 业绩与未来潜力的核心客群上。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953000"/>
            <a:ext cx="5842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5143500"/>
            <a:ext cx="533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🔍 双"7"的两层含义：时间 7/3 + 客户 7/3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时间 7/3：每天 70% 的工作时间用于服务核心客户（KYC、回访、配置检视、长期陪伴），30% 用于拓客、学习与运营。客户 7/3：把客户按贡献度与潜力划分，70% 资源向 30% 高潜核心客户倾斜，剩余 30% 资源覆盖长尾客群与基础服务。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18245" r="18245"/>
          <a:stretch>
            <a:fillRect/>
          </a:stretch>
        </p:blipFill>
        <p:spPr>
          <a:xfrm>
            <a:off x="6985000" y="2032000"/>
            <a:ext cx="4445000" cy="3937000"/>
          </a:xfrm>
          <a:prstGeom prst="roundRect">
            <a:avLst>
              <a:gd name="adj" fmla="val 5161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原则二：适当性原则 — 投资"三性"的底层逻辑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84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1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"产品的三性，匹配客户的三性——这是买方投顾不可逾越的红线。"</a:t>
            </a:r>
            <a:endParaRPr lang="en-US" sz="1100"/>
          </a:p>
          <a:p>
            <a:pPr indent="0" algn="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适当性原则的核心要义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5842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3655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核心要义：客户三性 × 产品三性，缺一不可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所谓"三性"，即流动性、收益性、波动性。每位客户都有自己的三性画像（资金的可用期限、对收益的期待、对波动的承受力），每只产品也都有内在的三性属性。买方投顾的全部专业判断，都落在"客户三性 ↔ 产品三性"的精准匹配上。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953000"/>
            <a:ext cx="5842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5143500"/>
            <a:ext cx="533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🔍 三性匹配的三步落地动作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以风险测评、家庭现金流梳理还原客户三性；②以底层资产、历史回撤、产品说明书还原产品三性；③做适当性比对，不匹配的坚决不推荐，匹配的也要把风险讲清楚。"三性匹配"既是给客户负责，更是给自己上一道职业保险锁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18245" r="18245"/>
          <a:stretch>
            <a:fillRect/>
          </a:stretch>
        </p:blipFill>
        <p:spPr>
          <a:xfrm>
            <a:off x="6985000" y="2032000"/>
            <a:ext cx="4445000" cy="3937000"/>
          </a:xfrm>
          <a:prstGeom prst="roundRect">
            <a:avLst>
              <a:gd name="adj" fmla="val 5161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原则三：合规原则 — 守住业务的生命线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057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合规四条铁律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一票否决 · 不可逾越的底线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①严禁承诺收益、保本保收益；②严格执行适当性，不向普通投资者推荐超风险产品；③所有宣传与话术真实、客观、有据可依；④客户信息严格保密，操作全程留痕可追溯。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95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2057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合规先行 · 制度护航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048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坚守公司制度与监管要求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坚持"公司制度 + 监管要求"双红线管理。任何动作、任何话术、任何场景都要先过合规这一关；合规通过，再谈服务与转化。合规是流程的护栏，也是买方投顾区别于传统销售的本质所在。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905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95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2057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合规即长期主义的底层保障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048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守住底线：把合规作为不可逾越的红线，先合规、再业务。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全程留痕：客户信息、双录、合同、调仓建议——每一步都可追溯。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客户托付：合规是客户长期托付的基础，也是顾问职业永固的护城河。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展业全流程：买方投顾六步法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原则是基石，流程是路径。我们把买方投顾展业拆解为环环相扣的六个步骤，每一步都有明确目标、关键动作与配套技巧，确保动作可复制、能力可沉淀。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667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41500" y="27305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准备阶段——精准备战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找好目标客户 + 做好联系客户前的准备工作，让每一次出手都"有的放矢"。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2413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35500" y="2667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24500" y="27305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建立关系——信任破冰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了解客户、建立信任，宣导资产配置理念，让客户愿意"打开"与你深聊。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0" y="2413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18500" y="2667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207500" y="27305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挖掘需求——锁定目标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挖掘客户财务需求，确定目标三性，将客户的三性"显性化"。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482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841500" y="48895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提供解决方案——专业成交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掌握资产配置能力，做出方案并通俗化解读，争取客户践行方案。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445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635500" y="482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24500" y="48895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签约落地——合规闭环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签约执行三大合规要求，把"承诺"转化为"留痕"，闭环管理责权利。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128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318500" y="482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07500" y="48895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主动投后管理——长期陪伴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陪伴执行、动态再平衡、异议处理、深耕挖潜，做长期主义的"家庭CEO"。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步骤一：准备阶段——精准备战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01 · 目标：找好目标客户 + 做好联系客户前的准备工作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9210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66800" y="3302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总部 · 战略导向找好目标客户：基于客群分层与价值贡献，明确"在谁身上花 70% 精力"。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4318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分支机构 · 资源支撑做好联系客户前的准备工作：客户资料、画像、风险偏好一目了然，提升首触成功率。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5334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 · 主动出击坚持"双 7"精力管理原则，把时间 7/3、客户 7/3 落到每日日清动作之中。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四大动作 + 四项技巧 · 战术落地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27800" y="29210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527800" y="3302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动作1 · 找好目标客户技巧①：有目标、思路地看静态 C5 客户信息——客户五维画像（基础/服务/偏子/财务/成长）。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4318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动作2 &amp; 3 · 了解策略 + 自我介绍技巧②③：FABE 方法了解组合策略、FABE 方法准备自我介绍，让"开场 30 秒"建立专业感。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27800" y="5334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动作4 · 准备面访资料技巧④：四类面访资料——宏观策略报告、行业报告、工具图表活页、客户的组合/持仓报告。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步骤二：建立关系——信任破冰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01 · 目标：了解客户、建立信任、宣导资产配置理念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9210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66800" y="3302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总部 · 流程牵引把"破冰"作为流程必经环节，避免一上来就讲产品，建立买方顾问标准动作。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4318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分支机构 · 场景赋能通过沙龙、专题、面访等场景反复传递配置理念，让客户接受"配置语言"。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5334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 · 角色重塑从"卖产品"转为"懂客户"，用专业问询替代推销话术，建立信任感与专业感。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02 · 两大动作 + 四项技巧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27800" y="29210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527800" y="3302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动作1 · 了解客户技巧⑤：客户偏差的应对策略；技巧⑥：PPF 方法 KYC 客户。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4318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动作1 · 客户分类与沟通技巧⑦：DISC 客户分类沟通技巧；技巧⑧：说-问-停顿-说沟通技巧。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27800" y="5334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动作2 · 宣导资产配置理念把"分散、长期、再平衡"等核心理念，转化为客户能听懂、愿接受的语言。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步骤三：挖掘需求——锁定目标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01 · 目标：拿到客户财务目标的三性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9210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66800" y="3302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总部 · 工具支撑提供风险测评、三性问卷、目标财务模型，让需求挖掘有"标准动作"。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4318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分支机构 · 流程把控确保每一笔买方业务，都做过完整的需求挖掘与目标确认。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5334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 · 深度对话用 SPIN 等结构化提问，把客户的"想要的"转化为"该要的、能要的"。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02 · 三大动作 · SPIN + 三性显性化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27800" y="29210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527800" y="3302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动作1 · 挖掘客户财务需求技巧⑨：SPIN 需求挖掘法，逐层引导客户讲清财务目标。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4318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动作2 · 确定每个财务需求的目标三性把"流动性 / 收益性 / 波动性"逐项量化，写入客户档案。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27800" y="5334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动作3 · 给客户做风险测评，将三性显性化测评结果 + 三性画像，作为后续配置与合规的"原点"。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步骤四：提供解决方案——专业成交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2032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01 · 目标：资产配置 + 通俗解读 + 客户践行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921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857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总部 · 体系支撑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掌握资产配置能力、掌握通俗化解读方案能力、争取客户小比例践行方案，三大目标层层递进。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064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4000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分支机构 · 落地保障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围绕"跟随型 / 建议型 / 配置型"三类客户，提供差异化方案设计模板与解读话术。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207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5143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 · 专业成交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先做配置，再做产品；先做沟通，再做成交，避免"上来就推单品"的传统卖方惯性。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527800" y="2032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02 · 两大动作 + 知识点 1/2/3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2921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2857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动作1 · 给客户做资产配置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跟随型：客户找组合/组合找客户；建议型：客户找组合/组合找客户；配置型：自建投资组合（含知识点1/2/3）。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800" y="4064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4000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动作2 · 向客户解读资配方案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技巧⑩通俗化表达：把宏观、大类资产配置、基金筛选讲得"客户听得懂、愿意做"。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7800" y="5207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239000" y="5143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知识点支撑 · 三大底座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知1：宏观分析使用原理、美林时钟应用、宏观数据应用；知2：大类资产选择与配置方法；知3：基金分类及基金筛选。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步骤五：签约落地——合规闭环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057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合规四道关 · 步步留痕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原则3 · 合规原则落地动作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①严禁承诺收益、保本保收益；②严格执行适当性，不向普通投资者推荐超风险产品；③所有宣传与话术真实、客观、有据可依；④客户信息严格保密，操作全程留痕可追溯。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95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2057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闭环动作 · 责权利对齐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048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签约 → 留痕 → 闭环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通过买方投顾平台完成线上签约、风险揭示、双录留痕；在 C5 中建立"客户—合同—持仓—服务"四位一体档案，方便后续动态调仓、绩效归因与异议处理。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905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B897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95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2057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合规闭环的三重价值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048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客户托付：让客户清楚自己买的是什么、风险在哪、责任在谁。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顾问安心：出现问题谁的责任谁背，客户背客户的、你背你的——晚上睡得着觉。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业务永固：合规闭环是买方投顾长期主义业务模型的"地基"。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步骤六：主动投后管理——长期陪伴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01 · 目标：投后服务 + 主动管理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9210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66800" y="3302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总部 · 工具与制度建设投后服务平台（智能提醒、组合检视、再平衡建议、客户回访 SOP）。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4318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分支机构 · 服务标准化按客群分层制定回访频次、检视频次、活动频次，纳入考核。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5334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一线员工 · 长期陪伴从"卖完即走"转为"长期陪伴"，把客户当家人来管理。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9766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四大动作 · 陪伴 / 调仓 / 异议 / 挖潜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27800" y="29210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527800" y="3302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动作1 &amp; 2 · 陪伴执行 + 动态再平衡按计划执行，市场异常 + 客户变化时主动启动再平衡，避免"放任不管"。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4318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动作3 · 异议处理技巧⑪：PAPAC 方法应对客户异议；技巧⑫：赎回四问法应对客户波动想赎回。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27800" y="5334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动作4 · 挖潜（运营）技巧⑬：五类客户分类深度挖掘（运营）技巧；技巧⑭：让客户转介绍技巧。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工具篇：技巧 + 案例 + 话术 + 图表 + 知识 — 五位一体的能力库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22549" r="22549"/>
          <a:stretch>
            <a:fillRect/>
          </a:stretch>
        </p:blipFill>
        <p:spPr>
          <a:xfrm>
            <a:off x="762000" y="1778000"/>
            <a:ext cx="3556000" cy="4318000"/>
          </a:xfrm>
          <a:prstGeom prst="roundRect">
            <a:avLst>
              <a:gd name="adj" fmla="val 4285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572000" y="1778000"/>
            <a:ext cx="3683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762500" y="2095500"/>
            <a:ext cx="762000" cy="762000"/>
          </a:xfrm>
          <a:prstGeom prst="ellipse">
            <a:avLst/>
          </a:prstGeom>
          <a:solidFill>
            <a:srgbClr val="F9F5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0300" y="22733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715000" y="2032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技巧 · 14 项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 FABE / PPF / SPIN / DISC / PAPAC / 赎回四问到转介绍话术，覆盖六步法每一关键动作。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382000" y="1778000"/>
            <a:ext cx="3683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572500" y="2095500"/>
            <a:ext cx="762000" cy="762000"/>
          </a:xfrm>
          <a:prstGeom prst="ellipse">
            <a:avLst/>
          </a:prstGeom>
          <a:solidFill>
            <a:srgbClr val="F9F5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0300" y="22733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525000" y="2032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 · 3 类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宏观分析与美林时钟、大类资产配置方法、基金分类及基金筛选——专业判断的底座。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572000" y="4191000"/>
            <a:ext cx="3683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762500" y="4508500"/>
            <a:ext cx="762000" cy="762000"/>
          </a:xfrm>
          <a:prstGeom prst="ellipse">
            <a:avLst/>
          </a:prstGeom>
          <a:solidFill>
            <a:srgbClr val="F9F5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0300" y="46863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715000" y="4445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话术 / 案例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与每个技巧、知识点一一对应的标准话术与可复用案例，新人即可"照葫芦画瓢"。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382000" y="4191000"/>
            <a:ext cx="3683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572500" y="4508500"/>
            <a:ext cx="762000" cy="762000"/>
          </a:xfrm>
          <a:prstGeom prst="ellipse">
            <a:avLst/>
          </a:prstGeom>
          <a:solidFill>
            <a:srgbClr val="F9F5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0300" y="46863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525000" y="44450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图表 / 工具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四类面访资料、组合诊断图、再平衡建议表等——把专业能力"可视化、工具化"。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2217</Words>
  <Application>Microsoft Office PowerPoint</Application>
  <PresentationFormat>宽屏</PresentationFormat>
  <Paragraphs>316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LEI TAO</cp:lastModifiedBy>
  <cp:revision>9</cp:revision>
  <dcterms:modified xsi:type="dcterms:W3CDTF">2026-05-11T13:14:30Z</dcterms:modified>
</cp:coreProperties>
</file>